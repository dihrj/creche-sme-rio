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34C7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A7F-604B-9862-DCB05F3D2D7E}"/>
              </c:ext>
            </c:extLst>
          </c:dPt>
          <c:dPt>
            <c:idx val="1"/>
            <c:invertIfNegative val="0"/>
            <c:bubble3D val="0"/>
            <c:spPr>
              <a:solidFill>
                <a:srgbClr val="028FB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A7F-604B-9862-DCB05F3D2D7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Opções em lista de espera</c:v>
                </c:pt>
                <c:pt idx="1">
                  <c:v>Lugares fisicamente vazios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16345</c:v>
                </c:pt>
                <c:pt idx="1">
                  <c:v>8243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A7F-604B-9862-DCB05F3D2D7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34C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00"/>
        </c:scaling>
        <c:delete val="0"/>
        <c:axPos val="l"/>
        <c:majorGridlines>
          <c:spPr>
            <a:ln w="12700" cap="flat">
              <a:solidFill>
                <a:srgbClr val="E6EEF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0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Hoje</c:v>
                </c:pt>
              </c:strCache>
            </c:strRef>
          </c:tx>
          <c:spPr>
            <a:solidFill>
              <a:srgbClr val="A9CBE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Vagas ociosas</c:v>
                </c:pt>
                <c:pt idx="1">
                  <c:v>Em vulnerabilidade</c:v>
                </c:pt>
                <c:pt idx="2">
                  <c:v>Na 1ª opção</c:v>
                </c:pt>
                <c:pt idx="3">
                  <c:v>Matriculadas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8243</c:v>
                </c:pt>
                <c:pt idx="1">
                  <c:v>28426</c:v>
                </c:pt>
                <c:pt idx="2">
                  <c:v>35139</c:v>
                </c:pt>
                <c:pt idx="3">
                  <c:v>48680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E-F641-94FD-F82B7DCBB3B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Fila Única</c:v>
                </c:pt>
              </c:strCache>
            </c:strRef>
          </c:tx>
          <c:spPr>
            <a:solidFill>
              <a:srgbClr val="028FB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3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Vagas ociosas</c:v>
                </c:pt>
                <c:pt idx="1">
                  <c:v>Em vulnerabilidade</c:v>
                </c:pt>
                <c:pt idx="2">
                  <c:v>Na 1ª opção</c:v>
                </c:pt>
                <c:pt idx="3">
                  <c:v>Matriculadas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3648</c:v>
                </c:pt>
                <c:pt idx="1">
                  <c:v>34633</c:v>
                </c:pt>
                <c:pt idx="2">
                  <c:v>41284</c:v>
                </c:pt>
                <c:pt idx="3">
                  <c:v>53275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E-F641-94FD-F82B7DCBB3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34C7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0"/>
        </c:scaling>
        <c:delete val="0"/>
        <c:axPos val="b"/>
        <c:majorGridlines>
          <c:spPr>
            <a:ln w="12700" cap="flat">
              <a:solidFill>
                <a:srgbClr val="E6EEF4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C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500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C7D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827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o problema não é falta de vaga, é a forma de casar vaga e criança. Hoje uma criança ocupa até cinco filas; a Fila Única dá a ela uma fila e uma vaga.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Fila e vaga vazia convivem no mesmo ano. O problema é de alocação, não de orçamento nem de rede física.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vem do redesenho das regras, simulado sobre a base administrativa real de 2025 publicada pela SME.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causa mapeada no diagnóstico corresponde a uma regra do redesenho. R1, R2 e R5 concentram o ganho simulado.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calendário e as equipes seguem os mesmos. Cada etapa recebe uma regra que fecha uma lacuna específica do processo 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Contrafactual sobre o processo real de 2025: mesmo estoque de vagas e mesma régua oficial. Muda o algoritmo de alocação e o número de rodadas.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À esquerda, o compromisso de resultado. À direita, as seis mudanças de regra necessárias; R1, R2 e R5 podem ser publicadas primeiro.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único e imediato: rodar o motor de alocação sobre o processo de 2026, em ambiente da SME, sem desenvolvimento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fila-unica-web.onrender.com/entrar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4C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786384"/>
            <a:ext cx="1892808" cy="347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971800" y="731520"/>
            <a:ext cx="0" cy="475488"/>
          </a:xfrm>
          <a:prstGeom prst="line">
            <a:avLst/>
          </a:prstGeom>
          <a:noFill/>
          <a:ln w="12700">
            <a:solidFill>
              <a:srgbClr val="CBEA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722376"/>
            <a:ext cx="1207008" cy="4937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1783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SME-RIO  ·  EDUCAÇÃO INFANTIL  ·  CRECHE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10312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Única</a:t>
            </a:r>
            <a:endParaRPr lang="en-US" sz="52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063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no sistema de alocação de vagas da creche pública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40080" y="3611880"/>
            <a:ext cx="1463040" cy="0"/>
          </a:xfrm>
          <a:prstGeom prst="line">
            <a:avLst/>
          </a:prstGeom>
          <a:noFill/>
          <a:ln w="38100">
            <a:solidFill>
              <a:srgbClr val="00C0F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640080" y="39319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3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até 5 vagas por criança, em filas separadas e desconexas. Com a Fila Única, cada criança concorre em uma única fila ordenada, com uma vaga.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892040"/>
            <a:ext cx="5669280" cy="502920"/>
          </a:xfrm>
          <a:prstGeom prst="roundRect">
            <a:avLst>
              <a:gd name="adj" fmla="val 10909"/>
            </a:avLst>
          </a:prstGeom>
          <a:solidFill>
            <a:srgbClr val="09336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8"/>
          <p:cNvSpPr txBox="1"/>
          <p:nvPr/>
        </p:nvSpPr>
        <p:spPr>
          <a:xfrm>
            <a:off x="640080" y="489204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sala nova, sem professor a mais, sem critério novo.</a:t>
            </a:r>
            <a:endParaRPr lang="en-US" sz="1250" dirty="0">
              <a:solidFill>
                <a:schemeClr val="bg1"/>
              </a:solidFill>
            </a:endParaRPr>
          </a:p>
        </p:txBody>
      </p:sp>
      <p:sp>
        <p:nvSpPr>
          <p:cNvPr id="13" name="Shape 9"/>
          <p:cNvSpPr/>
          <p:nvPr/>
        </p:nvSpPr>
        <p:spPr>
          <a:xfrm>
            <a:off x="6995160" y="2103120"/>
            <a:ext cx="2148840" cy="3291840"/>
          </a:xfrm>
          <a:prstGeom prst="roundRect">
            <a:avLst>
              <a:gd name="adj" fmla="val 2128"/>
            </a:avLst>
          </a:prstGeom>
          <a:solidFill>
            <a:srgbClr val="0A3F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0"/>
          <p:cNvSpPr txBox="1"/>
          <p:nvPr/>
        </p:nvSpPr>
        <p:spPr>
          <a:xfrm>
            <a:off x="6995160" y="2331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2788920"/>
            <a:ext cx="365760" cy="365760"/>
          </a:xfrm>
          <a:prstGeom prst="ellipse">
            <a:avLst/>
          </a:prstGeom>
          <a:solidFill>
            <a:srgbClr val="1D5C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2"/>
          <p:cNvSpPr txBox="1"/>
          <p:nvPr/>
        </p:nvSpPr>
        <p:spPr>
          <a:xfrm>
            <a:off x="786384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863840" y="3246120"/>
            <a:ext cx="365760" cy="365760"/>
          </a:xfrm>
          <a:prstGeom prst="ellipse">
            <a:avLst/>
          </a:prstGeom>
          <a:solidFill>
            <a:srgbClr val="1D5C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4"/>
          <p:cNvSpPr txBox="1"/>
          <p:nvPr/>
        </p:nvSpPr>
        <p:spPr>
          <a:xfrm>
            <a:off x="786384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7863840" y="3703320"/>
            <a:ext cx="365760" cy="365760"/>
          </a:xfrm>
          <a:prstGeom prst="ellipse">
            <a:avLst/>
          </a:prstGeom>
          <a:solidFill>
            <a:srgbClr val="1D5C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6"/>
          <p:cNvSpPr txBox="1"/>
          <p:nvPr/>
        </p:nvSpPr>
        <p:spPr>
          <a:xfrm>
            <a:off x="78638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863840" y="4160520"/>
            <a:ext cx="365760" cy="365760"/>
          </a:xfrm>
          <a:prstGeom prst="ellipse">
            <a:avLst/>
          </a:prstGeom>
          <a:solidFill>
            <a:srgbClr val="1D5C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8"/>
          <p:cNvSpPr txBox="1"/>
          <p:nvPr/>
        </p:nvSpPr>
        <p:spPr>
          <a:xfrm>
            <a:off x="7863840" y="4160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7863840" y="4617720"/>
            <a:ext cx="365760" cy="365760"/>
          </a:xfrm>
          <a:prstGeom prst="ellipse">
            <a:avLst/>
          </a:prstGeom>
          <a:solidFill>
            <a:srgbClr val="1D5C8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0"/>
          <p:cNvSpPr txBox="1"/>
          <p:nvPr/>
        </p:nvSpPr>
        <p:spPr>
          <a:xfrm>
            <a:off x="786384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7086600" y="495604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</a:t>
            </a:r>
            <a:r>
              <a:rPr lang="en-US" sz="1100" dirty="0" err="1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</a:t>
            </a:r>
            <a:r>
              <a:rPr lang="en-US" sz="1100" dirty="0">
                <a:solidFill>
                  <a:srgbClr val="BB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por criança</a:t>
            </a:r>
            <a:endParaRPr lang="en-US" sz="1100" dirty="0"/>
          </a:p>
        </p:txBody>
      </p:sp>
      <p:pic>
        <p:nvPicPr>
          <p:cNvPr id="26" name="Image 2" descr="/home/claude/assets/icons/arrowrigh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3566160"/>
            <a:ext cx="365760" cy="36576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921240" y="2103120"/>
            <a:ext cx="1828800" cy="3291840"/>
          </a:xfrm>
          <a:prstGeom prst="roundRect">
            <a:avLst>
              <a:gd name="adj" fmla="val 2500"/>
            </a:avLst>
          </a:prstGeom>
          <a:solidFill>
            <a:srgbClr val="00C0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3"/>
          <p:cNvSpPr txBox="1"/>
          <p:nvPr/>
        </p:nvSpPr>
        <p:spPr>
          <a:xfrm>
            <a:off x="9921240" y="2331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93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ÚNICA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0561320" y="34747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 txBox="1"/>
          <p:nvPr/>
        </p:nvSpPr>
        <p:spPr>
          <a:xfrm>
            <a:off x="105613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31" name="Text 26"/>
          <p:cNvSpPr txBox="1"/>
          <p:nvPr/>
        </p:nvSpPr>
        <p:spPr>
          <a:xfrm>
            <a:off x="10012680" y="49560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93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vaga por criança</a:t>
            </a:r>
            <a:endParaRPr lang="en-US" sz="1100" dirty="0"/>
          </a:p>
        </p:txBody>
      </p:sp>
      <p:sp>
        <p:nvSpPr>
          <p:cNvPr id="32" name="Text 27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33" name="Text 28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"/>
            <a:ext cx="1892808" cy="347472"/>
          </a:xfrm>
          <a:prstGeom prst="rect">
            <a:avLst/>
          </a:prstGeom>
        </p:spPr>
      </p:pic>
      <p:pic>
        <p:nvPicPr>
          <p:cNvPr id="3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37744"/>
            <a:ext cx="1216152" cy="4937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 ·  DIAGNÓSTICO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2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alocação. Sobra vaga.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8288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na fila de espera vs. vagas fisicamente vazias — fechamento do ano letivo de 2025, rede pública municipal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2331720"/>
          <a:ext cx="6766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7498080" y="2331720"/>
            <a:ext cx="4233672" cy="2377440"/>
          </a:xfrm>
          <a:prstGeom prst="roundRect">
            <a:avLst>
              <a:gd name="adj" fmla="val 1923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4"/>
          <p:cNvSpPr/>
          <p:nvPr/>
        </p:nvSpPr>
        <p:spPr>
          <a:xfrm>
            <a:off x="7772400" y="2606040"/>
            <a:ext cx="457200" cy="457200"/>
          </a:xfrm>
          <a:prstGeom prst="ellipse">
            <a:avLst/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/home/claude/assets/icons/eyeslash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86700" y="272034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772400" y="3200400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gargalo não é orçamentário.</a:t>
            </a:r>
            <a:endParaRPr lang="en-US" sz="1600" dirty="0"/>
          </a:p>
        </p:txBody>
      </p:sp>
      <p:sp>
        <p:nvSpPr>
          <p:cNvPr id="12" name="Text 6"/>
          <p:cNvSpPr txBox="1"/>
          <p:nvPr/>
        </p:nvSpPr>
        <p:spPr>
          <a:xfrm>
            <a:off x="7772400" y="3584448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forma como as opções são casadas com as crianças: cada criança concorre em até 5 filas isoladas, sem visão do conjunto, e a vaga certa não encontra a criança certa.</a:t>
            </a:r>
            <a:endParaRPr lang="en-US" sz="1150" dirty="0"/>
          </a:p>
        </p:txBody>
      </p:sp>
      <p:sp>
        <p:nvSpPr>
          <p:cNvPr id="13" name="Shape 7"/>
          <p:cNvSpPr/>
          <p:nvPr/>
        </p:nvSpPr>
        <p:spPr>
          <a:xfrm>
            <a:off x="7498080" y="4892040"/>
            <a:ext cx="4233672" cy="1051560"/>
          </a:xfrm>
          <a:prstGeom prst="roundRect">
            <a:avLst>
              <a:gd name="adj" fmla="val 4348"/>
            </a:avLst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8"/>
          <p:cNvSpPr txBox="1"/>
          <p:nvPr/>
        </p:nvSpPr>
        <p:spPr>
          <a:xfrm>
            <a:off x="7772400" y="50292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8.243</a:t>
            </a:r>
            <a:endParaRPr lang="en-US" sz="3000" dirty="0"/>
          </a:p>
        </p:txBody>
      </p:sp>
      <p:sp>
        <p:nvSpPr>
          <p:cNvPr id="15" name="Text 9"/>
          <p:cNvSpPr txBox="1"/>
          <p:nvPr/>
        </p:nvSpPr>
        <p:spPr>
          <a:xfrm>
            <a:off x="9281160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físicas ociosas ao final do processo de 2025</a:t>
            </a:r>
            <a:endParaRPr lang="en-US" sz="11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17" name="Text 11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4C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94944"/>
            <a:ext cx="1892808" cy="347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640080"/>
            <a:ext cx="0" cy="475488"/>
          </a:xfrm>
          <a:prstGeom prst="line">
            <a:avLst/>
          </a:prstGeom>
          <a:noFill/>
          <a:ln w="12700">
            <a:solidFill>
              <a:srgbClr val="CBEA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630936"/>
            <a:ext cx="1207008" cy="4937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691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011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Diagnosticamos o gargalo.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Redesenhamos as regras.</a:t>
            </a:r>
            <a:endParaRPr lang="en-US" sz="30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Simulamos o resultado.</a:t>
            </a:r>
            <a:endParaRPr lang="en-US" sz="3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886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C3D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Redesenhamos as regras do processo de matrícula da rede pública de creches e simulamos o resultado sobre a base real de 2025, da própria SME, com o mesmo estoque de vagas e as mesmas equipes.</a:t>
            </a:r>
            <a:endParaRPr lang="en-US" sz="1300" dirty="0"/>
          </a:p>
        </p:txBody>
      </p:sp>
      <p:pic>
        <p:nvPicPr>
          <p:cNvPr id="9" name="Image 2" descr="/home/claude/assets/icons/targe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02920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960120" y="5029200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Simulação validada sobre dados administrativos reais, não é uma estimativa teórica.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6949440" y="2011680"/>
            <a:ext cx="4782312" cy="3383280"/>
          </a:xfrm>
          <a:prstGeom prst="roundRect">
            <a:avLst>
              <a:gd name="adj" fmla="val 1351"/>
            </a:avLst>
          </a:prstGeom>
          <a:solidFill>
            <a:srgbClr val="0A3F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 txBox="1"/>
          <p:nvPr/>
        </p:nvSpPr>
        <p:spPr>
          <a:xfrm>
            <a:off x="7315200" y="2377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SIMULADO · 2025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7315200" y="278892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+4.595</a:t>
            </a:r>
            <a:endParaRPr lang="en-US" sz="6600" dirty="0"/>
          </a:p>
        </p:txBody>
      </p:sp>
      <p:sp>
        <p:nvSpPr>
          <p:cNvPr id="14" name="Text 9"/>
          <p:cNvSpPr txBox="1"/>
          <p:nvPr/>
        </p:nvSpPr>
        <p:spPr>
          <a:xfrm>
            <a:off x="7315200" y="4069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matriculadas a mais por ano, com o mesmo estoque de vagas da rede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16" name="Text 11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"/>
            <a:ext cx="1892808" cy="347472"/>
          </a:xfrm>
          <a:prstGeom prst="rect">
            <a:avLst/>
          </a:prstGeom>
        </p:spPr>
      </p:pic>
      <p:pic>
        <p:nvPicPr>
          <p:cNvPr id="3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37744"/>
            <a:ext cx="1216152" cy="4937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GARGALO → SOLUÇÃO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1704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criança = uma fila = uma vaga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gargalo identificado no diagnóstico tem endereço certo no desenho do produto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 MAPEADAS</a:t>
            </a:r>
            <a:endParaRPr lang="en-US" sz="95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1965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PROPOSTAS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9052560" y="1901952"/>
            <a:ext cx="2679192" cy="329184"/>
          </a:xfrm>
          <a:prstGeom prst="roundRect">
            <a:avLst>
              <a:gd name="adj" fmla="val 22222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6"/>
          <p:cNvSpPr txBox="1"/>
          <p:nvPr/>
        </p:nvSpPr>
        <p:spPr>
          <a:xfrm>
            <a:off x="9052560" y="1901952"/>
            <a:ext cx="26791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 e R5 destravam a maior parte do ganho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457200" y="224028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8"/>
          <p:cNvSpPr/>
          <p:nvPr/>
        </p:nvSpPr>
        <p:spPr>
          <a:xfrm>
            <a:off x="658368" y="2386584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Image 2" descr="/home/claude/assets/icons/lock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" y="2491740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25296" y="233172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Travamento de até 5 vagas por criança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1225296" y="266090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837 mil linhas de fila · 80% do gargalo</a:t>
            </a:r>
            <a:endParaRPr lang="en-US" sz="1000" dirty="0"/>
          </a:p>
        </p:txBody>
      </p:sp>
      <p:pic>
        <p:nvPicPr>
          <p:cNvPr id="16" name="Image 3" descr="/home/claude/assets/icons/arrowrigh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2496312"/>
            <a:ext cx="201168" cy="201168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172200" y="2240280"/>
            <a:ext cx="5559552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2"/>
          <p:cNvSpPr/>
          <p:nvPr/>
        </p:nvSpPr>
        <p:spPr>
          <a:xfrm>
            <a:off x="6355080" y="244144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 txBox="1"/>
          <p:nvPr/>
        </p:nvSpPr>
        <p:spPr>
          <a:xfrm>
            <a:off x="6355080" y="244144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7360920" y="23134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opções em ordem de preferência vinculante, com uma única alocação por criança.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457200" y="301752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6"/>
          <p:cNvSpPr/>
          <p:nvPr/>
        </p:nvSpPr>
        <p:spPr>
          <a:xfrm>
            <a:off x="658368" y="3163824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4" descr="/home/claude/assets/icons/sync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24" y="3268980"/>
            <a:ext cx="210312" cy="21031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25296" y="310896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apenas uma rodada de seleção</a:t>
            </a:r>
            <a:endParaRPr lang="en-US" sz="1150" dirty="0"/>
          </a:p>
        </p:txBody>
      </p:sp>
      <p:sp>
        <p:nvSpPr>
          <p:cNvPr id="25" name="Text 18"/>
          <p:cNvSpPr txBox="1"/>
          <p:nvPr/>
        </p:nvSpPr>
        <p:spPr>
          <a:xfrm>
            <a:off x="1225296" y="343814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8.243 vagas ociosas ao final do processo</a:t>
            </a:r>
            <a:endParaRPr lang="en-US" sz="1000" dirty="0"/>
          </a:p>
        </p:txBody>
      </p:sp>
      <p:pic>
        <p:nvPicPr>
          <p:cNvPr id="26" name="Image 5" descr="/home/claude/assets/icons/arrowrigh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3273552"/>
            <a:ext cx="201168" cy="20116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6172200" y="3017520"/>
            <a:ext cx="5559552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0"/>
          <p:cNvSpPr/>
          <p:nvPr/>
        </p:nvSpPr>
        <p:spPr>
          <a:xfrm>
            <a:off x="6355080" y="32186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6355080" y="321868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R6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7360920" y="30906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rodadas com dez dias de intervalo e fase de remanescentes; recusa libera a vaga e preserva a posição nas demais filas.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457200" y="379476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4"/>
          <p:cNvSpPr/>
          <p:nvPr/>
        </p:nvSpPr>
        <p:spPr>
          <a:xfrm>
            <a:off x="658368" y="3941064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3" name="Image 6" descr="/home/claude/assets/icons/eyeslash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3524" y="4046220"/>
            <a:ext cx="210312" cy="210312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1225296" y="388620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visibilidade da disponibilidade de vagas por unidade</a:t>
            </a:r>
            <a:endParaRPr lang="en-US" sz="1150" dirty="0"/>
          </a:p>
        </p:txBody>
      </p:sp>
      <p:sp>
        <p:nvSpPr>
          <p:cNvPr id="35" name="Text 26"/>
          <p:cNvSpPr txBox="1"/>
          <p:nvPr/>
        </p:nvSpPr>
        <p:spPr>
          <a:xfrm>
            <a:off x="1225296" y="421538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às cegas, sem dado de ocupação</a:t>
            </a:r>
            <a:endParaRPr lang="en-US" sz="1000" dirty="0"/>
          </a:p>
        </p:txBody>
      </p:sp>
      <p:pic>
        <p:nvPicPr>
          <p:cNvPr id="36" name="Image 7" descr="/home/claude/assets/icons/arrowrigh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4050792"/>
            <a:ext cx="201168" cy="201168"/>
          </a:xfrm>
          <a:prstGeom prst="rect">
            <a:avLst/>
          </a:prstGeom>
        </p:spPr>
      </p:pic>
      <p:sp>
        <p:nvSpPr>
          <p:cNvPr id="37" name="Shape 27"/>
          <p:cNvSpPr/>
          <p:nvPr/>
        </p:nvSpPr>
        <p:spPr>
          <a:xfrm>
            <a:off x="6172200" y="3794760"/>
            <a:ext cx="5559552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28"/>
          <p:cNvSpPr/>
          <p:nvPr/>
        </p:nvSpPr>
        <p:spPr>
          <a:xfrm>
            <a:off x="6355080" y="399592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29"/>
          <p:cNvSpPr txBox="1"/>
          <p:nvPr/>
        </p:nvSpPr>
        <p:spPr>
          <a:xfrm>
            <a:off x="6355080" y="39959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900" dirty="0"/>
          </a:p>
        </p:txBody>
      </p:sp>
      <p:sp>
        <p:nvSpPr>
          <p:cNvPr id="40" name="Text 30"/>
          <p:cNvSpPr txBox="1"/>
          <p:nvPr/>
        </p:nvSpPr>
        <p:spPr>
          <a:xfrm>
            <a:off x="7360920" y="38679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adicional e opcional de vaga próxima às unidades escolhidas, com disponibilidade publicada.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457200" y="457200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Shape 32"/>
          <p:cNvSpPr/>
          <p:nvPr/>
        </p:nvSpPr>
        <p:spPr>
          <a:xfrm>
            <a:off x="658368" y="4718304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3" name="Image 8" descr="/home/claude/assets/icons/filealt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24" y="4823460"/>
            <a:ext cx="210312" cy="210312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225296" y="466344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Barreiras de cadastro: contato e comprovação de vulnerabilidade</a:t>
            </a:r>
            <a:endParaRPr lang="en-US" sz="1150" dirty="0"/>
          </a:p>
        </p:txBody>
      </p:sp>
      <p:sp>
        <p:nvSpPr>
          <p:cNvPr id="45" name="Text 34"/>
          <p:cNvSpPr txBox="1"/>
          <p:nvPr/>
        </p:nvSpPr>
        <p:spPr>
          <a:xfrm>
            <a:off x="1225296" y="499262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vulnerabilidade hoje em 6,8%</a:t>
            </a:r>
            <a:endParaRPr lang="en-US" sz="1000" dirty="0"/>
          </a:p>
        </p:txBody>
      </p:sp>
      <p:pic>
        <p:nvPicPr>
          <p:cNvPr id="46" name="Image 9" descr="/home/claude/assets/icons/arrowrigh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4828032"/>
            <a:ext cx="201168" cy="201168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6172200" y="4572000"/>
            <a:ext cx="5559552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36"/>
          <p:cNvSpPr/>
          <p:nvPr/>
        </p:nvSpPr>
        <p:spPr>
          <a:xfrm>
            <a:off x="6355080" y="477316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37"/>
          <p:cNvSpPr txBox="1"/>
          <p:nvPr/>
        </p:nvSpPr>
        <p:spPr>
          <a:xfrm>
            <a:off x="6355080" y="477316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 · R5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7360920" y="46451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anexado na inscrição e conferido na matrícula; contato editável pela família a qualquer momento.</a:t>
            </a:r>
            <a:endParaRPr lang="en-US" sz="1050" dirty="0"/>
          </a:p>
        </p:txBody>
      </p:sp>
      <p:sp>
        <p:nvSpPr>
          <p:cNvPr id="51" name="Shape 39"/>
          <p:cNvSpPr/>
          <p:nvPr/>
        </p:nvSpPr>
        <p:spPr>
          <a:xfrm>
            <a:off x="457200" y="5349240"/>
            <a:ext cx="5074920" cy="713232"/>
          </a:xfrm>
          <a:prstGeom prst="roundRect">
            <a:avLst>
              <a:gd name="adj" fmla="val 6410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Shape 40"/>
          <p:cNvSpPr/>
          <p:nvPr/>
        </p:nvSpPr>
        <p:spPr>
          <a:xfrm>
            <a:off x="658368" y="5495544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3" name="Image 10" descr="/home/claude/assets/icons/calendar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524" y="5600700"/>
            <a:ext cx="210312" cy="210312"/>
          </a:xfrm>
          <a:prstGeom prst="rect">
            <a:avLst/>
          </a:prstGeom>
        </p:spPr>
      </p:pic>
      <p:sp>
        <p:nvSpPr>
          <p:cNvPr id="54" name="Text 41"/>
          <p:cNvSpPr txBox="1"/>
          <p:nvPr/>
        </p:nvSpPr>
        <p:spPr>
          <a:xfrm>
            <a:off x="1225296" y="5440680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visibilidade antecipada das datas e do processo</a:t>
            </a:r>
            <a:endParaRPr lang="en-US" sz="1150" dirty="0"/>
          </a:p>
        </p:txBody>
      </p:sp>
      <p:sp>
        <p:nvSpPr>
          <p:cNvPr id="55" name="Text 42"/>
          <p:cNvSpPr txBox="1"/>
          <p:nvPr/>
        </p:nvSpPr>
        <p:spPr>
          <a:xfrm>
            <a:off x="1225296" y="5769864"/>
            <a:ext cx="4160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Seleção, matrícula e rodadas sem calendário claro</a:t>
            </a:r>
            <a:endParaRPr lang="en-US" sz="1000" dirty="0"/>
          </a:p>
        </p:txBody>
      </p:sp>
      <p:pic>
        <p:nvPicPr>
          <p:cNvPr id="56" name="Image 11" descr="/home/claude/assets/icons/arrowright-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7568" y="5605272"/>
            <a:ext cx="201168" cy="201168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6172200" y="5349240"/>
            <a:ext cx="5559552" cy="713232"/>
          </a:xfrm>
          <a:prstGeom prst="roundRect">
            <a:avLst>
              <a:gd name="adj" fmla="val 6410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44"/>
          <p:cNvSpPr/>
          <p:nvPr/>
        </p:nvSpPr>
        <p:spPr>
          <a:xfrm>
            <a:off x="6355080" y="555040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9" name="Text 45"/>
          <p:cNvSpPr txBox="1"/>
          <p:nvPr/>
        </p:nvSpPr>
        <p:spPr>
          <a:xfrm>
            <a:off x="6355080" y="555040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 · R2 · R5</a:t>
            </a:r>
            <a:endParaRPr lang="en-US" sz="900" dirty="0"/>
          </a:p>
        </p:txBody>
      </p:sp>
      <p:sp>
        <p:nvSpPr>
          <p:cNvPr id="60" name="Text 46"/>
          <p:cNvSpPr txBox="1"/>
          <p:nvPr/>
        </p:nvSpPr>
        <p:spPr>
          <a:xfrm>
            <a:off x="7360920" y="54223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Calendário publicado antes do cadastramento e convocação multicanal (SMS, e-mail, app) com aceite ou recusa da família.</a:t>
            </a:r>
            <a:endParaRPr lang="en-US" sz="1050" dirty="0"/>
          </a:p>
        </p:txBody>
      </p:sp>
      <p:sp>
        <p:nvSpPr>
          <p:cNvPr id="61" name="Text 47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62" name="Text 48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"/>
            <a:ext cx="1892808" cy="347472"/>
          </a:xfrm>
          <a:prstGeom prst="rect">
            <a:avLst/>
          </a:prstGeom>
        </p:spPr>
      </p:pic>
      <p:pic>
        <p:nvPicPr>
          <p:cNvPr id="3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37744"/>
            <a:ext cx="1216152" cy="4937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144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17043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8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etapas do processo, redesenhadas</a:t>
            </a:r>
            <a:endParaRPr lang="en-US" sz="28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600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calendário, mesmas equipes: cada etapa ganha uma regra que fecha uma lacuna do processo atual.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457200" y="2057400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Shape 4"/>
          <p:cNvSpPr/>
          <p:nvPr/>
        </p:nvSpPr>
        <p:spPr>
          <a:xfrm>
            <a:off x="685800" y="2258568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/home/claude/assets/icons/lis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" y="2363724"/>
            <a:ext cx="210312" cy="2103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2990088" y="231343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 txBox="1"/>
          <p:nvPr/>
        </p:nvSpPr>
        <p:spPr>
          <a:xfrm>
            <a:off x="2990088" y="2313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13" name="Text 8"/>
          <p:cNvSpPr txBox="1"/>
          <p:nvPr/>
        </p:nvSpPr>
        <p:spPr>
          <a:xfrm>
            <a:off x="685800" y="2807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685800" y="2999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5 inscrições separadas, uma por opção: 5 filas por CPF.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68580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16" name="Text 11"/>
          <p:cNvSpPr txBox="1"/>
          <p:nvPr/>
        </p:nvSpPr>
        <p:spPr>
          <a:xfrm>
            <a:off x="685800" y="35753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Inscrição única, com até 5 opções em ordem de preferência vinculante.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297680" y="2057400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3"/>
          <p:cNvSpPr/>
          <p:nvPr/>
        </p:nvSpPr>
        <p:spPr>
          <a:xfrm>
            <a:off x="4526280" y="2258568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3" descr="/home/claude/assets/icons/filealt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1436" y="2363724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07492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Comprovação</a:t>
            </a:r>
            <a:endParaRPr lang="en-US" sz="1450" dirty="0"/>
          </a:p>
        </p:txBody>
      </p:sp>
      <p:sp>
        <p:nvSpPr>
          <p:cNvPr id="21" name="Shape 15"/>
          <p:cNvSpPr/>
          <p:nvPr/>
        </p:nvSpPr>
        <p:spPr>
          <a:xfrm>
            <a:off x="6830568" y="231343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6"/>
          <p:cNvSpPr txBox="1"/>
          <p:nvPr/>
        </p:nvSpPr>
        <p:spPr>
          <a:xfrm>
            <a:off x="6830568" y="2313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50" dirty="0"/>
          </a:p>
        </p:txBody>
      </p:sp>
      <p:sp>
        <p:nvSpPr>
          <p:cNvPr id="23" name="Text 17"/>
          <p:cNvSpPr txBox="1"/>
          <p:nvPr/>
        </p:nvSpPr>
        <p:spPr>
          <a:xfrm>
            <a:off x="4526280" y="2807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4526280" y="2999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Comprovação de vulnerabilidade valida hoje só 6,8% dos casos.</a:t>
            </a:r>
            <a:endParaRPr lang="en-US" sz="1050" dirty="0"/>
          </a:p>
        </p:txBody>
      </p:sp>
      <p:sp>
        <p:nvSpPr>
          <p:cNvPr id="25" name="Text 19"/>
          <p:cNvSpPr txBox="1"/>
          <p:nvPr/>
        </p:nvSpPr>
        <p:spPr>
          <a:xfrm>
            <a:off x="452628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4526280" y="35753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anexado na inscrição e conferido no ato da matrícula.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8138160" y="2057400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2"/>
          <p:cNvSpPr/>
          <p:nvPr/>
        </p:nvSpPr>
        <p:spPr>
          <a:xfrm>
            <a:off x="8366760" y="2258568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9" name="Image 4" descr="/home/claude/assets/icons/usercheck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1916" y="2363724"/>
            <a:ext cx="210312" cy="21031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915400" y="231343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450" dirty="0"/>
          </a:p>
        </p:txBody>
      </p:sp>
      <p:sp>
        <p:nvSpPr>
          <p:cNvPr id="31" name="Shape 24"/>
          <p:cNvSpPr/>
          <p:nvPr/>
        </p:nvSpPr>
        <p:spPr>
          <a:xfrm>
            <a:off x="10671048" y="2313432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5"/>
          <p:cNvSpPr txBox="1"/>
          <p:nvPr/>
        </p:nvSpPr>
        <p:spPr>
          <a:xfrm>
            <a:off x="10671048" y="23134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33" name="Text 26"/>
          <p:cNvSpPr txBox="1"/>
          <p:nvPr/>
        </p:nvSpPr>
        <p:spPr>
          <a:xfrm>
            <a:off x="8366760" y="28072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34" name="Text 27"/>
          <p:cNvSpPr txBox="1"/>
          <p:nvPr/>
        </p:nvSpPr>
        <p:spPr>
          <a:xfrm>
            <a:off x="8366760" y="299923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fila roda isolada, por unidade, sem visão do conjunto.</a:t>
            </a:r>
            <a:endParaRPr lang="en-US" sz="1050" dirty="0"/>
          </a:p>
        </p:txBody>
      </p:sp>
      <p:sp>
        <p:nvSpPr>
          <p:cNvPr id="35" name="Text 28"/>
          <p:cNvSpPr txBox="1"/>
          <p:nvPr/>
        </p:nvSpPr>
        <p:spPr>
          <a:xfrm>
            <a:off x="8366760" y="33832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36" name="Text 29"/>
          <p:cNvSpPr txBox="1"/>
          <p:nvPr/>
        </p:nvSpPr>
        <p:spPr>
          <a:xfrm>
            <a:off x="8366760" y="357530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emparelhamento estável cruza as preferências: uma reserva por CPF.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457200" y="4178808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Shape 31"/>
          <p:cNvSpPr/>
          <p:nvPr/>
        </p:nvSpPr>
        <p:spPr>
          <a:xfrm>
            <a:off x="685800" y="4379976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9" name="Image 5" descr="/home/claude/assets/icons/bell-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" y="4485132"/>
            <a:ext cx="210312" cy="210312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123444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1</a:t>
            </a:r>
            <a:endParaRPr lang="en-US" sz="1450" dirty="0"/>
          </a:p>
        </p:txBody>
      </p:sp>
      <p:sp>
        <p:nvSpPr>
          <p:cNvPr id="41" name="Shape 33"/>
          <p:cNvSpPr/>
          <p:nvPr/>
        </p:nvSpPr>
        <p:spPr>
          <a:xfrm>
            <a:off x="2990088" y="44348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34"/>
          <p:cNvSpPr txBox="1"/>
          <p:nvPr/>
        </p:nvSpPr>
        <p:spPr>
          <a:xfrm>
            <a:off x="2990088" y="4434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R6</a:t>
            </a:r>
            <a:endParaRPr lang="en-US" sz="850" dirty="0"/>
          </a:p>
        </p:txBody>
      </p:sp>
      <p:sp>
        <p:nvSpPr>
          <p:cNvPr id="43" name="Text 35"/>
          <p:cNvSpPr txBox="1"/>
          <p:nvPr/>
        </p:nvSpPr>
        <p:spPr>
          <a:xfrm>
            <a:off x="685800" y="4928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44" name="Text 36"/>
          <p:cNvSpPr txBox="1"/>
          <p:nvPr/>
        </p:nvSpPr>
        <p:spPr>
          <a:xfrm>
            <a:off x="685800" y="5120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única decide tudo de uma vez, sem margem de ajuste.</a:t>
            </a:r>
            <a:endParaRPr lang="en-US" sz="1050" dirty="0"/>
          </a:p>
        </p:txBody>
      </p:sp>
      <p:sp>
        <p:nvSpPr>
          <p:cNvPr id="45" name="Text 37"/>
          <p:cNvSpPr txBox="1"/>
          <p:nvPr/>
        </p:nvSpPr>
        <p:spPr>
          <a:xfrm>
            <a:off x="685800" y="5504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46" name="Text 38"/>
          <p:cNvSpPr txBox="1"/>
          <p:nvPr/>
        </p:nvSpPr>
        <p:spPr>
          <a:xfrm>
            <a:off x="685800" y="569671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Convocação multicanal (SMS, e-mail, app); aceite ou recusa pela família.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4297680" y="4178808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8" name="Shape 40"/>
          <p:cNvSpPr/>
          <p:nvPr/>
        </p:nvSpPr>
        <p:spPr>
          <a:xfrm>
            <a:off x="4526280" y="4379976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9" name="Image 6" descr="/home/claude/assets/icons/redo-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31436" y="4485132"/>
            <a:ext cx="210312" cy="210312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507492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Rodada 2</a:t>
            </a:r>
            <a:endParaRPr lang="en-US" sz="1450" dirty="0"/>
          </a:p>
        </p:txBody>
      </p:sp>
      <p:sp>
        <p:nvSpPr>
          <p:cNvPr id="51" name="Shape 42"/>
          <p:cNvSpPr/>
          <p:nvPr/>
        </p:nvSpPr>
        <p:spPr>
          <a:xfrm>
            <a:off x="6830568" y="44348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2" name="Text 43"/>
          <p:cNvSpPr txBox="1"/>
          <p:nvPr/>
        </p:nvSpPr>
        <p:spPr>
          <a:xfrm>
            <a:off x="6830568" y="4434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· R6</a:t>
            </a:r>
            <a:endParaRPr lang="en-US" sz="850" dirty="0"/>
          </a:p>
        </p:txBody>
      </p:sp>
      <p:sp>
        <p:nvSpPr>
          <p:cNvPr id="53" name="Text 44"/>
          <p:cNvSpPr txBox="1"/>
          <p:nvPr/>
        </p:nvSpPr>
        <p:spPr>
          <a:xfrm>
            <a:off x="4526280" y="4928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54" name="Text 45"/>
          <p:cNvSpPr txBox="1"/>
          <p:nvPr/>
        </p:nvSpPr>
        <p:spPr>
          <a:xfrm>
            <a:off x="4526280" y="5120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Inexistente: vaga recusada não retorna ao processo.</a:t>
            </a:r>
            <a:endParaRPr lang="en-US" sz="1050" dirty="0"/>
          </a:p>
        </p:txBody>
      </p:sp>
      <p:sp>
        <p:nvSpPr>
          <p:cNvPr id="55" name="Text 46"/>
          <p:cNvSpPr txBox="1"/>
          <p:nvPr/>
        </p:nvSpPr>
        <p:spPr>
          <a:xfrm>
            <a:off x="4526280" y="5504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56" name="Text 47"/>
          <p:cNvSpPr txBox="1"/>
          <p:nvPr/>
        </p:nvSpPr>
        <p:spPr>
          <a:xfrm>
            <a:off x="4526280" y="569671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rodada dez dias depois; recusa libera a vaga e preserva a posição.</a:t>
            </a:r>
            <a:endParaRPr lang="en-US" sz="1050" dirty="0"/>
          </a:p>
        </p:txBody>
      </p:sp>
      <p:sp>
        <p:nvSpPr>
          <p:cNvPr id="57" name="Shape 48"/>
          <p:cNvSpPr/>
          <p:nvPr/>
        </p:nvSpPr>
        <p:spPr>
          <a:xfrm>
            <a:off x="8138160" y="4178808"/>
            <a:ext cx="3584448" cy="1920240"/>
          </a:xfrm>
          <a:prstGeom prst="roundRect">
            <a:avLst>
              <a:gd name="adj" fmla="val 2381"/>
            </a:avLst>
          </a:prstGeom>
          <a:solidFill>
            <a:srgbClr val="F3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8" name="Shape 49"/>
          <p:cNvSpPr/>
          <p:nvPr/>
        </p:nvSpPr>
        <p:spPr>
          <a:xfrm>
            <a:off x="8366760" y="4379976"/>
            <a:ext cx="420624" cy="420624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9" name="Image 7" descr="/home/claude/assets/icons/mapmarker-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1916" y="4485132"/>
            <a:ext cx="210312" cy="210312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8915400" y="4434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Remanescentes</a:t>
            </a:r>
            <a:endParaRPr lang="en-US" sz="1450" dirty="0"/>
          </a:p>
        </p:txBody>
      </p:sp>
      <p:sp>
        <p:nvSpPr>
          <p:cNvPr id="61" name="Shape 51"/>
          <p:cNvSpPr/>
          <p:nvPr/>
        </p:nvSpPr>
        <p:spPr>
          <a:xfrm>
            <a:off x="10671048" y="4434840"/>
            <a:ext cx="822960" cy="292608"/>
          </a:xfrm>
          <a:prstGeom prst="roundRect">
            <a:avLst>
              <a:gd name="adj" fmla="val 25000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2" name="Text 52"/>
          <p:cNvSpPr txBox="1"/>
          <p:nvPr/>
        </p:nvSpPr>
        <p:spPr>
          <a:xfrm>
            <a:off x="10671048" y="4434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50" dirty="0"/>
          </a:p>
        </p:txBody>
      </p:sp>
      <p:sp>
        <p:nvSpPr>
          <p:cNvPr id="63" name="Text 53"/>
          <p:cNvSpPr txBox="1"/>
          <p:nvPr/>
        </p:nvSpPr>
        <p:spPr>
          <a:xfrm>
            <a:off x="8366760" y="49286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850" dirty="0"/>
          </a:p>
        </p:txBody>
      </p:sp>
      <p:sp>
        <p:nvSpPr>
          <p:cNvPr id="64" name="Text 54"/>
          <p:cNvSpPr txBox="1"/>
          <p:nvPr/>
        </p:nvSpPr>
        <p:spPr>
          <a:xfrm>
            <a:off x="8366760" y="5120640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8.243 vagas ficam ociosas ao fim do processo.</a:t>
            </a:r>
            <a:endParaRPr lang="en-US" sz="1050" dirty="0"/>
          </a:p>
        </p:txBody>
      </p:sp>
      <p:sp>
        <p:nvSpPr>
          <p:cNvPr id="65" name="Text 55"/>
          <p:cNvSpPr txBox="1"/>
          <p:nvPr/>
        </p:nvSpPr>
        <p:spPr>
          <a:xfrm>
            <a:off x="8366760" y="55046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APRIMORADO</a:t>
            </a:r>
            <a:endParaRPr lang="en-US" sz="850" dirty="0"/>
          </a:p>
        </p:txBody>
      </p:sp>
      <p:sp>
        <p:nvSpPr>
          <p:cNvPr id="66" name="Text 56"/>
          <p:cNvSpPr txBox="1"/>
          <p:nvPr/>
        </p:nvSpPr>
        <p:spPr>
          <a:xfrm>
            <a:off x="8366760" y="5696712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adicional por proximidade sobre o resíduo, alocação auditável.</a:t>
            </a:r>
            <a:endParaRPr lang="en-US" sz="1050" dirty="0"/>
          </a:p>
        </p:txBody>
      </p:sp>
      <p:sp>
        <p:nvSpPr>
          <p:cNvPr id="67" name="Text 57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68" name="Text 58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"/>
            <a:ext cx="1892808" cy="347472"/>
          </a:xfrm>
          <a:prstGeom prst="rect">
            <a:avLst/>
          </a:prstGeom>
        </p:spPr>
      </p:pic>
      <p:pic>
        <p:nvPicPr>
          <p:cNvPr id="3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37744"/>
            <a:ext cx="1216152" cy="4937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Mesmas vagas, mesma régua, outro resultado</a:t>
            </a:r>
            <a:endParaRPr lang="en-US" sz="30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1783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simulado sobre o processo real de 2025, com a base anonimizada publicada pela SME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20040" y="2148840"/>
          <a:ext cx="68580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8" name="Shape 3"/>
          <p:cNvSpPr/>
          <p:nvPr/>
        </p:nvSpPr>
        <p:spPr>
          <a:xfrm>
            <a:off x="7452360" y="2148840"/>
            <a:ext cx="2212848" cy="1234440"/>
          </a:xfrm>
          <a:prstGeom prst="roundRect">
            <a:avLst>
              <a:gd name="adj" fmla="val 3704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4"/>
          <p:cNvSpPr txBox="1"/>
          <p:nvPr/>
        </p:nvSpPr>
        <p:spPr>
          <a:xfrm>
            <a:off x="7653528" y="22951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+4.595</a:t>
            </a:r>
            <a:endParaRPr lang="en-US" sz="2600" dirty="0"/>
          </a:p>
        </p:txBody>
      </p:sp>
      <p:sp>
        <p:nvSpPr>
          <p:cNvPr id="10" name="Text 5"/>
          <p:cNvSpPr txBox="1"/>
          <p:nvPr/>
        </p:nvSpPr>
        <p:spPr>
          <a:xfrm>
            <a:off x="7653528" y="277063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matriculadas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9866376" y="2148840"/>
            <a:ext cx="2212848" cy="1234440"/>
          </a:xfrm>
          <a:prstGeom prst="roundRect">
            <a:avLst>
              <a:gd name="adj" fmla="val 3704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7"/>
          <p:cNvSpPr txBox="1"/>
          <p:nvPr/>
        </p:nvSpPr>
        <p:spPr>
          <a:xfrm>
            <a:off x="10067544" y="2295144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+6.145</a:t>
            </a:r>
            <a:endParaRPr lang="en-US" sz="2600" dirty="0"/>
          </a:p>
        </p:txBody>
      </p:sp>
      <p:sp>
        <p:nvSpPr>
          <p:cNvPr id="13" name="Text 8"/>
          <p:cNvSpPr txBox="1"/>
          <p:nvPr/>
        </p:nvSpPr>
        <p:spPr>
          <a:xfrm>
            <a:off x="10067544" y="2770632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creche escolhida em 1ª opção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7452360" y="3584448"/>
            <a:ext cx="2212848" cy="1234440"/>
          </a:xfrm>
          <a:prstGeom prst="roundRect">
            <a:avLst>
              <a:gd name="adj" fmla="val 3704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0"/>
          <p:cNvSpPr txBox="1"/>
          <p:nvPr/>
        </p:nvSpPr>
        <p:spPr>
          <a:xfrm>
            <a:off x="7653528" y="37307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+6.207</a:t>
            </a:r>
            <a:endParaRPr lang="en-US" sz="2600" dirty="0"/>
          </a:p>
        </p:txBody>
      </p:sp>
      <p:sp>
        <p:nvSpPr>
          <p:cNvPr id="16" name="Text 11"/>
          <p:cNvSpPr txBox="1"/>
          <p:nvPr/>
        </p:nvSpPr>
        <p:spPr>
          <a:xfrm>
            <a:off x="7653528" y="4206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em vulnerabilidade atendidas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9866376" y="3584448"/>
            <a:ext cx="2212848" cy="1234440"/>
          </a:xfrm>
          <a:prstGeom prst="roundRect">
            <a:avLst>
              <a:gd name="adj" fmla="val 3704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3"/>
          <p:cNvSpPr txBox="1"/>
          <p:nvPr/>
        </p:nvSpPr>
        <p:spPr>
          <a:xfrm>
            <a:off x="10067544" y="3730752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−56%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10067544" y="4206240"/>
            <a:ext cx="18470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vagas que sobram vazias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7452360" y="5020056"/>
            <a:ext cx="4279392" cy="1207008"/>
          </a:xfrm>
          <a:prstGeom prst="roundRect">
            <a:avLst>
              <a:gd name="adj" fmla="val 3788"/>
            </a:avLst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2" descr="/home/claude/assets/icons/checkcircle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0" y="52303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092440" y="5166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sala nova. Nenhum professor a mais. Nenhum critério inventado.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8092440" y="56509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CBE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ganho vem inteiramente do redesenho das regras de alocação.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4C7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97764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21792"/>
            <a:ext cx="1892808" cy="3474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880360" y="566928"/>
            <a:ext cx="0" cy="475488"/>
          </a:xfrm>
          <a:prstGeom prst="line">
            <a:avLst/>
          </a:prstGeom>
          <a:noFill/>
          <a:ln w="12700">
            <a:solidFill>
              <a:srgbClr val="CBEAF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557784"/>
            <a:ext cx="1207008" cy="493776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17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COMPROMISSO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166420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Única faz ela encontrar a criança certa,</a:t>
            </a:r>
            <a:endParaRPr lang="en-US" sz="2700" dirty="0"/>
          </a:p>
          <a:p>
            <a:pPr marL="0" indent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ordem certa, no prazo certo</a:t>
            </a:r>
            <a:endParaRPr lang="en-US" sz="27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DO ANO 1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577840" cy="219456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Hoje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F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F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Crianças matriculadas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C0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opção atendida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72,2%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C0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Vagas ociosas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C0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4.500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de vulnerabilidade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6,8%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C0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85%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3A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Convocados sem matrícula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dirty="0">
                          <a:solidFill>
                            <a:srgbClr val="DCEAF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00C0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52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3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6492240" y="26060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F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DE REGRA NECESSÁRIAS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6492240" y="288036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C3A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7"/>
          <p:cNvSpPr/>
          <p:nvPr/>
        </p:nvSpPr>
        <p:spPr>
          <a:xfrm>
            <a:off x="6656832" y="295351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8"/>
          <p:cNvSpPr txBox="1"/>
          <p:nvPr/>
        </p:nvSpPr>
        <p:spPr>
          <a:xfrm>
            <a:off x="6656832" y="29535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850" dirty="0"/>
          </a:p>
        </p:txBody>
      </p:sp>
      <p:sp>
        <p:nvSpPr>
          <p:cNvPr id="14" name="Text 9"/>
          <p:cNvSpPr txBox="1"/>
          <p:nvPr/>
        </p:nvSpPr>
        <p:spPr>
          <a:xfrm>
            <a:off x="7269480" y="288036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opções em ordem de preferência vinculante, com uma alocação por criança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6492240" y="329184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A33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1"/>
          <p:cNvSpPr/>
          <p:nvPr/>
        </p:nvSpPr>
        <p:spPr>
          <a:xfrm>
            <a:off x="6656832" y="336499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2"/>
          <p:cNvSpPr txBox="1"/>
          <p:nvPr/>
        </p:nvSpPr>
        <p:spPr>
          <a:xfrm>
            <a:off x="6656832" y="336499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850" dirty="0"/>
          </a:p>
        </p:txBody>
      </p:sp>
      <p:sp>
        <p:nvSpPr>
          <p:cNvPr id="18" name="Text 13"/>
          <p:cNvSpPr txBox="1"/>
          <p:nvPr/>
        </p:nvSpPr>
        <p:spPr>
          <a:xfrm>
            <a:off x="7269480" y="329184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rodadas com dez dias de intervalo, mais fase de remanescentes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92240" y="370332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C3A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6656832" y="377647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6"/>
          <p:cNvSpPr txBox="1"/>
          <p:nvPr/>
        </p:nvSpPr>
        <p:spPr>
          <a:xfrm>
            <a:off x="6656832" y="377647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R3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7269480" y="370332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anexado na inscrição e conferido no ato da matrícula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92240" y="411480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A33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Shape 19"/>
          <p:cNvSpPr/>
          <p:nvPr/>
        </p:nvSpPr>
        <p:spPr>
          <a:xfrm>
            <a:off x="6656832" y="418795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0"/>
          <p:cNvSpPr txBox="1"/>
          <p:nvPr/>
        </p:nvSpPr>
        <p:spPr>
          <a:xfrm>
            <a:off x="6656832" y="418795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850" dirty="0"/>
          </a:p>
        </p:txBody>
      </p:sp>
      <p:sp>
        <p:nvSpPr>
          <p:cNvPr id="26" name="Text 21"/>
          <p:cNvSpPr txBox="1"/>
          <p:nvPr/>
        </p:nvSpPr>
        <p:spPr>
          <a:xfrm>
            <a:off x="7269480" y="411480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adicional e opcional de vaga próxima às unidades escolhidas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6492240" y="452628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C3A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Shape 23"/>
          <p:cNvSpPr/>
          <p:nvPr/>
        </p:nvSpPr>
        <p:spPr>
          <a:xfrm>
            <a:off x="6656832" y="459943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4"/>
          <p:cNvSpPr txBox="1"/>
          <p:nvPr/>
        </p:nvSpPr>
        <p:spPr>
          <a:xfrm>
            <a:off x="6656832" y="459943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</a:t>
            </a:r>
            <a:endParaRPr lang="en-US" sz="850" dirty="0"/>
          </a:p>
        </p:txBody>
      </p:sp>
      <p:sp>
        <p:nvSpPr>
          <p:cNvPr id="30" name="Text 25"/>
          <p:cNvSpPr txBox="1"/>
          <p:nvPr/>
        </p:nvSpPr>
        <p:spPr>
          <a:xfrm>
            <a:off x="7269480" y="452628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editável pela família a qualquer momento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492240" y="4937760"/>
            <a:ext cx="5239512" cy="384048"/>
          </a:xfrm>
          <a:prstGeom prst="roundRect">
            <a:avLst>
              <a:gd name="adj" fmla="val 11905"/>
            </a:avLst>
          </a:prstGeom>
          <a:solidFill>
            <a:srgbClr val="0A335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27"/>
          <p:cNvSpPr/>
          <p:nvPr/>
        </p:nvSpPr>
        <p:spPr>
          <a:xfrm>
            <a:off x="6656832" y="5010912"/>
            <a:ext cx="475488" cy="237744"/>
          </a:xfrm>
          <a:prstGeom prst="roundRect">
            <a:avLst>
              <a:gd name="adj" fmla="val 30769"/>
            </a:avLst>
          </a:prstGeom>
          <a:solidFill>
            <a:srgbClr val="028FB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8"/>
          <p:cNvSpPr txBox="1"/>
          <p:nvPr/>
        </p:nvSpPr>
        <p:spPr>
          <a:xfrm>
            <a:off x="6656832" y="5010912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R6</a:t>
            </a:r>
            <a:endParaRPr lang="en-US" sz="850" dirty="0"/>
          </a:p>
        </p:txBody>
      </p:sp>
      <p:sp>
        <p:nvSpPr>
          <p:cNvPr id="34" name="Text 29"/>
          <p:cNvSpPr txBox="1"/>
          <p:nvPr/>
        </p:nvSpPr>
        <p:spPr>
          <a:xfrm>
            <a:off x="7269480" y="4937760"/>
            <a:ext cx="4315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Recusa libera a vaga e preserva a posição nas demais filas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6492240" y="5422392"/>
            <a:ext cx="5239512" cy="411480"/>
          </a:xfrm>
          <a:prstGeom prst="roundRect">
            <a:avLst>
              <a:gd name="adj" fmla="val 11111"/>
            </a:avLst>
          </a:prstGeom>
          <a:solidFill>
            <a:srgbClr val="0A3F6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1"/>
          <p:cNvSpPr txBox="1"/>
          <p:nvPr/>
        </p:nvSpPr>
        <p:spPr>
          <a:xfrm>
            <a:off x="6693408" y="542239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R1, R2 e R5 destravam a maior parte do ganho e são as menos controversas: podem ser publicadas primeiro.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548640" y="5870448"/>
            <a:ext cx="11183112" cy="457200"/>
          </a:xfrm>
          <a:prstGeom prst="roundRect">
            <a:avLst>
              <a:gd name="adj" fmla="val 12000"/>
            </a:avLst>
          </a:prstGeom>
          <a:solidFill>
            <a:srgbClr val="00C0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3"/>
          <p:cNvSpPr txBox="1"/>
          <p:nvPr/>
        </p:nvSpPr>
        <p:spPr>
          <a:xfrm>
            <a:off x="548640" y="5911088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9336F"/>
                </a:solidFill>
                <a:latin typeface="Calibri" pitchFamily="34" charset="0"/>
                <a:cs typeface="Calibri" pitchFamily="34" charset="-120"/>
              </a:rPr>
              <a:t>TODO MUNDO TEM VAGA</a:t>
            </a:r>
            <a:endParaRPr lang="en-US" sz="2000" dirty="0"/>
          </a:p>
        </p:txBody>
      </p:sp>
      <p:sp>
        <p:nvSpPr>
          <p:cNvPr id="39" name="Text 34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FA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40" name="Text 35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-prefei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01752"/>
            <a:ext cx="1892808" cy="347472"/>
          </a:xfrm>
          <a:prstGeom prst="rect">
            <a:avLst/>
          </a:prstGeom>
        </p:spPr>
      </p:pic>
      <p:pic>
        <p:nvPicPr>
          <p:cNvPr id="3" name="Image 1" descr="/home/claude/assets/logo-matricu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237744"/>
            <a:ext cx="1216152" cy="49377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457200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50" dirty="0"/>
          </a:p>
        </p:txBody>
      </p:sp>
      <p:sp>
        <p:nvSpPr>
          <p:cNvPr id="5" name="Text 1"/>
          <p:cNvSpPr txBox="1"/>
          <p:nvPr/>
        </p:nvSpPr>
        <p:spPr>
          <a:xfrm>
            <a:off x="457200" y="12344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457200" y="1965960"/>
            <a:ext cx="11274552" cy="658368"/>
          </a:xfrm>
          <a:prstGeom prst="roundRect">
            <a:avLst>
              <a:gd name="adj" fmla="val 8333"/>
            </a:avLst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 txBox="1"/>
          <p:nvPr/>
        </p:nvSpPr>
        <p:spPr>
          <a:xfrm>
            <a:off x="457200" y="1965960"/>
            <a:ext cx="112745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4.595 crianças a mais na creche, sem uma sala nova.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457200" y="2971800"/>
            <a:ext cx="5577840" cy="2468880"/>
          </a:xfrm>
          <a:prstGeom prst="roundRect">
            <a:avLst>
              <a:gd name="adj" fmla="val 1852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Shape 5"/>
          <p:cNvSpPr/>
          <p:nvPr/>
        </p:nvSpPr>
        <p:spPr>
          <a:xfrm>
            <a:off x="777240" y="3291840"/>
            <a:ext cx="566928" cy="566928"/>
          </a:xfrm>
          <a:prstGeom prst="ellipse">
            <a:avLst/>
          </a:prstGeom>
          <a:solidFill>
            <a:srgbClr val="034C7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/home/claude/assets/icons/chart-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3433572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08760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Validar o motor na base viva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41148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C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Rodar a alocação sobre o processo de 2026 em ambiente da SME e confirmar os achados. Não depende de desenvolvimento novo.</a:t>
            </a:r>
            <a:endParaRPr lang="en-US" sz="1300" dirty="0"/>
          </a:p>
        </p:txBody>
      </p:sp>
      <p:pic>
        <p:nvPicPr>
          <p:cNvPr id="15" name="Image 3" descr="/home/claude/assets/icons/clock-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9108" y="3241548"/>
            <a:ext cx="210312" cy="210312"/>
          </a:xfrm>
          <a:prstGeom prst="rect">
            <a:avLst/>
          </a:prstGeom>
        </p:spPr>
      </p:pic>
      <p:pic>
        <p:nvPicPr>
          <p:cNvPr id="20" name="Image 4" descr="/home/claude/assets/icons/key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9108" y="4101084"/>
            <a:ext cx="210312" cy="21031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457200" y="5669280"/>
            <a:ext cx="11274552" cy="502920"/>
          </a:xfrm>
          <a:prstGeom prst="roundRect">
            <a:avLst>
              <a:gd name="adj" fmla="val 10909"/>
            </a:avLst>
          </a:prstGeom>
          <a:solidFill>
            <a:srgbClr val="EAF4F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1"/>
          <p:cNvSpPr txBox="1"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Protótipo disponível </a:t>
            </a:r>
            <a:r>
              <a:rPr lang="en-US" sz="1250" b="1" dirty="0" err="1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2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https://fila-unica-</a:t>
            </a:r>
            <a:r>
              <a:rPr lang="en-US" sz="1250" b="1" dirty="0" err="1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web.onrender.com</a:t>
            </a:r>
            <a:r>
              <a:rPr lang="en-US" sz="1250" b="1" dirty="0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/</a:t>
            </a:r>
            <a:r>
              <a:rPr lang="en-US" sz="1250" b="1" dirty="0" err="1">
                <a:solidFill>
                  <a:srgbClr val="034C7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/>
              </a:rPr>
              <a:t>entrar</a:t>
            </a:r>
            <a:endParaRPr lang="en-US" sz="12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6400800"/>
            <a:ext cx="1005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22 · Claude Impact Lab Rio, 2ª edição · 30 de agosto de 2026</a:t>
            </a:r>
            <a:endParaRPr lang="en-US" sz="800" dirty="0"/>
          </a:p>
        </p:txBody>
      </p:sp>
      <p:sp>
        <p:nvSpPr>
          <p:cNvPr id="31" name="Text 23"/>
          <p:cNvSpPr txBox="1"/>
          <p:nvPr/>
        </p:nvSpPr>
        <p:spPr>
          <a:xfrm>
            <a:off x="11338560" y="6400800"/>
            <a:ext cx="393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28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33" name="Imagem 32">
            <a:extLst>
              <a:ext uri="{FF2B5EF4-FFF2-40B4-BE49-F238E27FC236}">
                <a16:creationId xmlns:a16="http://schemas.microsoft.com/office/drawing/2014/main" id="{0FE92C28-A45C-2378-55B0-916A6A7D17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11440" y="2852928"/>
            <a:ext cx="2700782" cy="270078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1317</Words>
  <Application>Microsoft Macintosh PowerPoint</Application>
  <PresentationFormat>Widescreen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Fila Unica - SME-Rio</dc:title>
  <dc:subject>PptxGenJS Presentation</dc:subject>
  <dc:creator>Grupo 22 - Claude Impact Lab Rio</dc:creator>
  <cp:lastModifiedBy>Diego Alves</cp:lastModifiedBy>
  <cp:revision>3</cp:revision>
  <dcterms:created xsi:type="dcterms:W3CDTF">2026-08-30T18:48:58Z</dcterms:created>
  <dcterms:modified xsi:type="dcterms:W3CDTF">2026-08-30T19:03:34Z</dcterms:modified>
</cp:coreProperties>
</file>